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3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1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5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13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4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03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57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3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3893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370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2330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68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169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27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E85D-2AA8-4A26-A607-E473E4A74D8A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AAA2AEC-CF74-4D7C-9CEA-EF50314FCA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6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in/" TargetMode="External"/><Relationship Id="rId7" Type="http://schemas.openxmlformats.org/officeDocument/2006/relationships/hyperlink" Target="https://docs.python.org/" TargetMode="External"/><Relationship Id="rId2" Type="http://schemas.openxmlformats.org/officeDocument/2006/relationships/hyperlink" Target="https://ncrb.gov.indata.gov.in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eaborn.pydata.org/" TargetMode="External"/><Relationship Id="rId5" Type="http://schemas.openxmlformats.org/officeDocument/2006/relationships/hyperlink" Target="https://pandas.pydata.org/" TargetMode="External"/><Relationship Id="rId4" Type="http://schemas.openxmlformats.org/officeDocument/2006/relationships/hyperlink" Target="https://www.analyticsvidhya.co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53D0-0FE8-F6A7-57AF-6528D6464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593890"/>
            <a:ext cx="8915399" cy="961533"/>
          </a:xfrm>
        </p:spPr>
        <p:txBody>
          <a:bodyPr/>
          <a:lstStyle/>
          <a:p>
            <a:r>
              <a:rPr lang="en-US" dirty="0"/>
              <a:t>Summer Internship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9A029-380C-E4A3-0C4F-70462EEFF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1640264"/>
            <a:ext cx="8915399" cy="123491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Crimes Against Women in India – A Data Analysis Using Python</a:t>
            </a:r>
            <a:endParaRPr lang="en-IN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097E7-D244-BF1C-6A36-1F7458DB2470}"/>
              </a:ext>
            </a:extLst>
          </p:cNvPr>
          <p:cNvSpPr txBox="1"/>
          <p:nvPr/>
        </p:nvSpPr>
        <p:spPr>
          <a:xfrm>
            <a:off x="2743200" y="3544478"/>
            <a:ext cx="89153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Name :GIET                                                      Batch:194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Team Members :1.A.S.N.L.M.S.Srivalli[22551A05E1]      Mentors:1.K.Meenakshi</a:t>
            </a:r>
            <a:br>
              <a:rPr lang="en-US" dirty="0"/>
            </a:br>
            <a:r>
              <a:rPr lang="en-US" dirty="0"/>
              <a:t>                             2.B.Meghana[22551A05E4]                               2.M.Ruthumma</a:t>
            </a:r>
            <a:br>
              <a:rPr lang="en-US" dirty="0"/>
            </a:br>
            <a:r>
              <a:rPr lang="en-US" dirty="0"/>
              <a:t>                             3.D.Hyndavi[22551A05E9]</a:t>
            </a:r>
            <a:br>
              <a:rPr lang="en-US" dirty="0"/>
            </a:br>
            <a:r>
              <a:rPr lang="en-US" dirty="0"/>
              <a:t>                             4.M.Mahesh[22551A05G9]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 : </a:t>
            </a:r>
            <a:r>
              <a:rPr lang="en-US" dirty="0" err="1"/>
              <a:t>B.Tech</a:t>
            </a:r>
            <a:r>
              <a:rPr lang="en-US" dirty="0"/>
              <a:t>-CSE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03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BBDF-3AA9-CC6D-ECBD-61F9F19F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78731"/>
            <a:ext cx="8915399" cy="725863"/>
          </a:xfrm>
        </p:spPr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E2D36-E945-864F-3EE0-9583EECB99B1}"/>
              </a:ext>
            </a:extLst>
          </p:cNvPr>
          <p:cNvSpPr txBox="1"/>
          <p:nvPr/>
        </p:nvSpPr>
        <p:spPr>
          <a:xfrm>
            <a:off x="2589212" y="1470582"/>
            <a:ext cx="89153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Introduction of Data analysis using Python and libraries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Project abstract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Introduction to Project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Technology Stack Used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System Design / Architecture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Implementation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Results / Output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Conclusion &amp; Future Scope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References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3498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B2E3-D3BC-F988-D9BF-FD867C5B1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93890"/>
            <a:ext cx="8915399" cy="707010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72A15-0112-981B-1FCA-BB0D76332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470580"/>
            <a:ext cx="8915399" cy="479352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What is Data Analysis Using Python? </a:t>
            </a:r>
          </a:p>
          <a:p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Data Analysis using Python</a:t>
            </a:r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is the process of inspecting, cleaning, transforming, and modeling data with the goal of discovering useful information, drawing conclusions, and supporting decision-making — all using Python programming.</a:t>
            </a:r>
          </a:p>
          <a:p>
            <a:r>
              <a:rPr lang="en-US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Python is one of the most popular languages for data analysis because of 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Simplicity and readability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Extensive libraries and community support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Powerful tools for statistical analysis and visualization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99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7766-C3DB-CD32-A029-C270A6EC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12742"/>
            <a:ext cx="8915399" cy="697584"/>
          </a:xfrm>
        </p:spPr>
        <p:txBody>
          <a:bodyPr>
            <a:normAutofit fontScale="90000"/>
          </a:bodyPr>
          <a:lstStyle/>
          <a:p>
            <a:r>
              <a:rPr lang="en-US" dirty="0"/>
              <a:t>Key steps in Data Analysis with Python: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A19BB-B152-35D9-C800-FB18FDCA3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461155"/>
            <a:ext cx="8915399" cy="4784103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000" b="1" dirty="0">
                <a:solidFill>
                  <a:schemeClr val="tx1"/>
                </a:solidFill>
              </a:rPr>
              <a:t>Data Collection:</a:t>
            </a:r>
            <a:br>
              <a:rPr lang="en-US" sz="8000" dirty="0">
                <a:solidFill>
                  <a:schemeClr val="tx1"/>
                </a:solidFill>
              </a:rPr>
            </a:br>
            <a:r>
              <a:rPr lang="en-US" sz="8000" dirty="0">
                <a:solidFill>
                  <a:schemeClr val="tx1"/>
                </a:solidFill>
              </a:rPr>
              <a:t>Gathering data from sources like CSV files, databases, APIs, or web scraping.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000" b="1" dirty="0">
                <a:solidFill>
                  <a:schemeClr val="tx1"/>
                </a:solidFill>
              </a:rPr>
              <a:t>Data Cleaning:</a:t>
            </a:r>
            <a:br>
              <a:rPr lang="en-US" sz="8000" dirty="0">
                <a:solidFill>
                  <a:schemeClr val="tx1"/>
                </a:solidFill>
              </a:rPr>
            </a:br>
            <a:r>
              <a:rPr lang="en-US" sz="8000" dirty="0">
                <a:solidFill>
                  <a:schemeClr val="tx1"/>
                </a:solidFill>
              </a:rPr>
              <a:t>Handling missing values, correcting data types, and removing duplicates using libraries like </a:t>
            </a:r>
            <a:r>
              <a:rPr lang="en-US" sz="8000" b="1" dirty="0">
                <a:solidFill>
                  <a:schemeClr val="tx1"/>
                </a:solidFill>
              </a:rPr>
              <a:t>Pandas</a:t>
            </a:r>
            <a:r>
              <a:rPr lang="en-US" sz="80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000" b="1" dirty="0">
                <a:solidFill>
                  <a:schemeClr val="tx1"/>
                </a:solidFill>
              </a:rPr>
              <a:t>Data Exploration:</a:t>
            </a:r>
            <a:br>
              <a:rPr lang="en-US" sz="8000" dirty="0">
                <a:solidFill>
                  <a:schemeClr val="tx1"/>
                </a:solidFill>
              </a:rPr>
            </a:br>
            <a:r>
              <a:rPr lang="en-US" sz="8000" dirty="0">
                <a:solidFill>
                  <a:schemeClr val="tx1"/>
                </a:solidFill>
              </a:rPr>
              <a:t>Understanding patterns and relationships in the data using </a:t>
            </a:r>
            <a:r>
              <a:rPr lang="en-US" sz="8000" b="1" dirty="0">
                <a:solidFill>
                  <a:schemeClr val="tx1"/>
                </a:solidFill>
              </a:rPr>
              <a:t>NumPy</a:t>
            </a:r>
            <a:r>
              <a:rPr lang="en-US" sz="8000" dirty="0">
                <a:solidFill>
                  <a:schemeClr val="tx1"/>
                </a:solidFill>
              </a:rPr>
              <a:t>, </a:t>
            </a:r>
            <a:r>
              <a:rPr lang="en-US" sz="8000" b="1" dirty="0">
                <a:solidFill>
                  <a:schemeClr val="tx1"/>
                </a:solidFill>
              </a:rPr>
              <a:t>Pandas</a:t>
            </a:r>
            <a:r>
              <a:rPr lang="en-US" sz="8000" dirty="0">
                <a:solidFill>
                  <a:schemeClr val="tx1"/>
                </a:solidFill>
              </a:rPr>
              <a:t>, and </a:t>
            </a:r>
            <a:r>
              <a:rPr lang="en-US" sz="8000" b="1" dirty="0">
                <a:solidFill>
                  <a:schemeClr val="tx1"/>
                </a:solidFill>
              </a:rPr>
              <a:t>Seaborn</a:t>
            </a:r>
            <a:r>
              <a:rPr lang="en-US" sz="80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000" b="1" dirty="0">
                <a:solidFill>
                  <a:schemeClr val="tx1"/>
                </a:solidFill>
              </a:rPr>
              <a:t>Data Visualization:</a:t>
            </a:r>
            <a:br>
              <a:rPr lang="en-US" sz="8000" dirty="0">
                <a:solidFill>
                  <a:schemeClr val="tx1"/>
                </a:solidFill>
              </a:rPr>
            </a:br>
            <a:r>
              <a:rPr lang="en-US" sz="8000" dirty="0">
                <a:solidFill>
                  <a:schemeClr val="tx1"/>
                </a:solidFill>
              </a:rPr>
              <a:t>Creating plots, charts, and graphs using </a:t>
            </a:r>
            <a:r>
              <a:rPr lang="en-US" sz="8000" b="1" dirty="0">
                <a:solidFill>
                  <a:schemeClr val="tx1"/>
                </a:solidFill>
              </a:rPr>
              <a:t>Matplotlib</a:t>
            </a:r>
            <a:r>
              <a:rPr lang="en-US" sz="8000" dirty="0">
                <a:solidFill>
                  <a:schemeClr val="tx1"/>
                </a:solidFill>
              </a:rPr>
              <a:t> and </a:t>
            </a:r>
            <a:r>
              <a:rPr lang="en-US" sz="8000" b="1" dirty="0">
                <a:solidFill>
                  <a:schemeClr val="tx1"/>
                </a:solidFill>
              </a:rPr>
              <a:t>Seaborn</a:t>
            </a:r>
            <a:r>
              <a:rPr lang="en-US" sz="8000" dirty="0">
                <a:solidFill>
                  <a:schemeClr val="tx1"/>
                </a:solidFill>
              </a:rPr>
              <a:t> to make data easier to interpret.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8000" b="1" dirty="0">
                <a:solidFill>
                  <a:schemeClr val="tx1"/>
                </a:solidFill>
              </a:rPr>
              <a:t>Statistical Analysis &amp; Modeling:</a:t>
            </a:r>
            <a:br>
              <a:rPr lang="en-US" sz="8000" dirty="0">
                <a:solidFill>
                  <a:schemeClr val="tx1"/>
                </a:solidFill>
              </a:rPr>
            </a:br>
            <a:r>
              <a:rPr lang="en-US" sz="8000" dirty="0">
                <a:solidFill>
                  <a:schemeClr val="tx1"/>
                </a:solidFill>
              </a:rPr>
              <a:t>Applying mathematical models and machine learning techniques using </a:t>
            </a:r>
            <a:r>
              <a:rPr lang="en-US" sz="8000" b="1" dirty="0">
                <a:solidFill>
                  <a:schemeClr val="tx1"/>
                </a:solidFill>
              </a:rPr>
              <a:t>Scikit-learn</a:t>
            </a:r>
            <a:r>
              <a:rPr lang="en-US" sz="8000" dirty="0">
                <a:solidFill>
                  <a:schemeClr val="tx1"/>
                </a:solidFill>
              </a:rPr>
              <a:t> to draw conclusions or make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985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C509-D04B-1DB9-7F55-4F8C8AA4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50450"/>
            <a:ext cx="8915399" cy="801278"/>
          </a:xfrm>
        </p:spPr>
        <p:txBody>
          <a:bodyPr>
            <a:normAutofit/>
          </a:bodyPr>
          <a:lstStyle/>
          <a:p>
            <a:r>
              <a:rPr lang="en-US" dirty="0"/>
              <a:t>Important Libraries used in Python: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343E0-61BC-FC66-29FC-0876B0B10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668544"/>
            <a:ext cx="8915399" cy="486423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NumPy</a:t>
            </a:r>
            <a:r>
              <a:rPr lang="en-US" dirty="0">
                <a:solidFill>
                  <a:schemeClr val="tx1"/>
                </a:solidFill>
              </a:rPr>
              <a:t> – for efficient numerical computations and array manipulation</a:t>
            </a:r>
          </a:p>
          <a:p>
            <a:r>
              <a:rPr lang="en-US" b="1" dirty="0">
                <a:solidFill>
                  <a:schemeClr val="tx1"/>
                </a:solidFill>
              </a:rPr>
              <a:t>Pandas</a:t>
            </a:r>
            <a:r>
              <a:rPr lang="en-US" dirty="0">
                <a:solidFill>
                  <a:schemeClr val="tx1"/>
                </a:solidFill>
              </a:rPr>
              <a:t> – for data cleaning, exploration, and manipulation</a:t>
            </a:r>
          </a:p>
          <a:p>
            <a:r>
              <a:rPr lang="en-US" b="1" dirty="0">
                <a:solidFill>
                  <a:schemeClr val="tx1"/>
                </a:solidFill>
              </a:rPr>
              <a:t>Matplotlib &amp; Seaborn</a:t>
            </a:r>
            <a:r>
              <a:rPr lang="en-US" dirty="0">
                <a:solidFill>
                  <a:schemeClr val="tx1"/>
                </a:solidFill>
              </a:rPr>
              <a:t> – for data visualization and pattern identification</a:t>
            </a:r>
          </a:p>
          <a:p>
            <a:r>
              <a:rPr lang="en-US" b="1" dirty="0">
                <a:solidFill>
                  <a:schemeClr val="tx1"/>
                </a:solidFill>
              </a:rPr>
              <a:t>Scikit-learn</a:t>
            </a:r>
            <a:r>
              <a:rPr lang="en-US" dirty="0">
                <a:solidFill>
                  <a:schemeClr val="tx1"/>
                </a:solidFill>
              </a:rPr>
              <a:t> – for implementing machine learning models and 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312222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DC4A-2526-EF4F-E2CE-228B6A6C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52488"/>
            <a:ext cx="8915399" cy="64102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Abstract: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49102-EC36-9A32-8336-3A800A06C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093510"/>
            <a:ext cx="8915399" cy="531200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Aim: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analyze trends and patterns in crimes against women across India using data analytics techniques.</a:t>
            </a:r>
          </a:p>
          <a:p>
            <a:r>
              <a:rPr lang="en-US" b="1" dirty="0">
                <a:solidFill>
                  <a:schemeClr val="tx1"/>
                </a:solidFill>
              </a:rPr>
              <a:t>Data Source: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State-wise and year-wise data obtained from the </a:t>
            </a:r>
            <a:r>
              <a:rPr lang="en-US" b="1" dirty="0">
                <a:solidFill>
                  <a:schemeClr val="tx1"/>
                </a:solidFill>
              </a:rPr>
              <a:t>National Crime Records Bureau (NCRB)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</a:rPr>
              <a:t>Tools &amp; Technologies Used: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Python</a:t>
            </a:r>
            <a:r>
              <a:rPr lang="en-US" dirty="0">
                <a:solidFill>
                  <a:schemeClr val="tx1"/>
                </a:solidFill>
              </a:rPr>
              <a:t> for scripting and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Pandas</a:t>
            </a:r>
            <a:r>
              <a:rPr lang="en-US" dirty="0">
                <a:solidFill>
                  <a:schemeClr val="tx1"/>
                </a:solidFill>
              </a:rPr>
              <a:t> for data cleaning and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Matplotlib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Seaborn</a:t>
            </a:r>
            <a:r>
              <a:rPr lang="en-US" dirty="0">
                <a:solidFill>
                  <a:schemeClr val="tx1"/>
                </a:solidFill>
              </a:rPr>
              <a:t> for data visualization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Outcome: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Identification of year-over-year trends in crime rates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Detection of high-crime regions and vulnerable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Insights to support </a:t>
            </a:r>
            <a:r>
              <a:rPr lang="en-US" b="1" dirty="0">
                <a:solidFill>
                  <a:schemeClr val="tx1"/>
                </a:solidFill>
              </a:rPr>
              <a:t>data-driven decision-making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policy formulation</a:t>
            </a:r>
            <a:r>
              <a:rPr lang="en-US" dirty="0">
                <a:solidFill>
                  <a:schemeClr val="tx1"/>
                </a:solidFill>
              </a:rPr>
              <a:t> for women’s safety in India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60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EA26-A588-F882-8460-DE0CF98A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22170"/>
            <a:ext cx="8915399" cy="650449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30D91-9BEF-E483-256F-7EEA49187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272618"/>
            <a:ext cx="8915399" cy="496321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Crimes against women</a:t>
            </a:r>
            <a:r>
              <a:rPr lang="en-US" dirty="0">
                <a:solidFill>
                  <a:schemeClr val="tx1"/>
                </a:solidFill>
              </a:rPr>
              <a:t> continue to be one of the most pressing social issues in India. Despite various legal frameworks and social initiatives, the rate of crimes such as </a:t>
            </a:r>
            <a:r>
              <a:rPr lang="en-US" b="1" dirty="0">
                <a:solidFill>
                  <a:schemeClr val="tx1"/>
                </a:solidFill>
              </a:rPr>
              <a:t>rape, domestic violence, assault, and kidnapping</a:t>
            </a:r>
            <a:r>
              <a:rPr lang="en-US" dirty="0">
                <a:solidFill>
                  <a:schemeClr val="tx1"/>
                </a:solidFill>
              </a:rPr>
              <a:t> remains alarmingly high in several parts of the country.</a:t>
            </a:r>
          </a:p>
          <a:p>
            <a:r>
              <a:rPr lang="en-US" dirty="0">
                <a:solidFill>
                  <a:schemeClr val="tx1"/>
                </a:solidFill>
              </a:rPr>
              <a:t>These crimes not only impact the physical and emotional well-being of women but also pose significant challenges to social justice, gender equality, and national development.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</a:rPr>
              <a:t>Scope of 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According to the </a:t>
            </a:r>
            <a:r>
              <a:rPr lang="en-US" b="1" dirty="0">
                <a:solidFill>
                  <a:schemeClr val="tx1"/>
                </a:solidFill>
              </a:rPr>
              <a:t>National Crime Records Bureau (NCRB)</a:t>
            </a:r>
            <a:r>
              <a:rPr lang="en-US" dirty="0">
                <a:solidFill>
                  <a:schemeClr val="tx1"/>
                </a:solidFill>
              </a:rPr>
              <a:t>, thousands of cases are reported every year, with variations across different states and time periods.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Understanding </a:t>
            </a:r>
            <a:r>
              <a:rPr lang="en-US" b="1" dirty="0">
                <a:solidFill>
                  <a:schemeClr val="tx1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when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how frequently</a:t>
            </a:r>
            <a:r>
              <a:rPr lang="en-US" dirty="0">
                <a:solidFill>
                  <a:schemeClr val="tx1"/>
                </a:solidFill>
              </a:rPr>
              <a:t> these crimes occur is crucial for effective intervention and policy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0972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5CA50-9D92-6E4D-4CB8-21EAED679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518473"/>
            <a:ext cx="8915399" cy="624054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Need for Data Analysis:</a:t>
            </a:r>
          </a:p>
          <a:p>
            <a:r>
              <a:rPr lang="en-US" dirty="0">
                <a:solidFill>
                  <a:schemeClr val="tx1"/>
                </a:solidFill>
              </a:rPr>
              <a:t>Traditional crime reports often lack visual clarity and pattern detection.</a:t>
            </a:r>
          </a:p>
          <a:p>
            <a:r>
              <a:rPr lang="en-US" b="1" dirty="0">
                <a:solidFill>
                  <a:schemeClr val="tx1"/>
                </a:solidFill>
              </a:rPr>
              <a:t>Data analysis</a:t>
            </a:r>
            <a:r>
              <a:rPr lang="en-US" dirty="0">
                <a:solidFill>
                  <a:schemeClr val="tx1"/>
                </a:solidFill>
              </a:rPr>
              <a:t> using Python libraries like Pandas, Matplotlib, and Seaborn helps: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Clean and organize large volumes of raw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Uncover trends, correlations, and anomalies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Identify states or regions with consistently high crime rates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Value of Visualizations: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Graphs and charts simplify complex datasets, allowing </a:t>
            </a:r>
            <a:r>
              <a:rPr lang="en-US" b="1" dirty="0">
                <a:solidFill>
                  <a:schemeClr val="tx1"/>
                </a:solidFill>
              </a:rPr>
              <a:t>lawmakers, NGOs, and citizens</a:t>
            </a:r>
            <a:r>
              <a:rPr lang="en-US" dirty="0">
                <a:solidFill>
                  <a:schemeClr val="tx1"/>
                </a:solidFill>
              </a:rPr>
              <a:t> to quickly understand crime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Visual tools highlight urgent areas of concern, seasonality, and changes over time, which are not obvious from raw data alone.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98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5DEE7-5A9A-3F72-56D9-94CECD5B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603314"/>
            <a:ext cx="8915399" cy="572207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Objective of the Project:</a:t>
            </a:r>
          </a:p>
          <a:p>
            <a:r>
              <a:rPr lang="en-US" dirty="0">
                <a:solidFill>
                  <a:schemeClr val="tx1"/>
                </a:solidFill>
              </a:rPr>
              <a:t>This project is intended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Raise awareness</a:t>
            </a:r>
            <a:r>
              <a:rPr lang="en-US" dirty="0">
                <a:solidFill>
                  <a:schemeClr val="tx1"/>
                </a:solidFill>
              </a:rPr>
              <a:t> about the scale and seriousness of crimes against women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</a:t>
            </a:r>
            <a:r>
              <a:rPr lang="en-US" b="1" dirty="0">
                <a:solidFill>
                  <a:schemeClr val="tx1"/>
                </a:solidFill>
              </a:rPr>
              <a:t>data-driven support</a:t>
            </a:r>
            <a:r>
              <a:rPr lang="en-US" dirty="0">
                <a:solidFill>
                  <a:schemeClr val="tx1"/>
                </a:solidFill>
              </a:rPr>
              <a:t> for policy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Encourage </a:t>
            </a:r>
            <a:r>
              <a:rPr lang="en-US" b="1" dirty="0">
                <a:solidFill>
                  <a:schemeClr val="tx1"/>
                </a:solidFill>
              </a:rPr>
              <a:t>preventive actions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targeted interventions</a:t>
            </a:r>
            <a:r>
              <a:rPr lang="en-US" dirty="0">
                <a:solidFill>
                  <a:schemeClr val="tx1"/>
                </a:solidFill>
              </a:rPr>
              <a:t> in vulnerable regions</a:t>
            </a:r>
          </a:p>
          <a:p>
            <a:r>
              <a:rPr lang="en-US" dirty="0">
                <a:solidFill>
                  <a:schemeClr val="tx1"/>
                </a:solidFill>
              </a:rPr>
              <a:t>By leveraging data analysis, we aim to turn statistics into meaningful insights that can contribute to </a:t>
            </a:r>
            <a:r>
              <a:rPr lang="en-US" b="1" dirty="0">
                <a:solidFill>
                  <a:schemeClr val="tx1"/>
                </a:solidFill>
              </a:rPr>
              <a:t>social change and improved safety for women across India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71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CB6B-2995-3B63-AFA8-1A5AAB822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99622"/>
            <a:ext cx="8915399" cy="678729"/>
          </a:xfrm>
        </p:spPr>
        <p:txBody>
          <a:bodyPr>
            <a:normAutofit fontScale="90000"/>
          </a:bodyPr>
          <a:lstStyle/>
          <a:p>
            <a:r>
              <a:rPr lang="en-IN" dirty="0"/>
              <a:t>Technology Stack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5B378-FFA1-D96B-7CB9-29999EA8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286635"/>
            <a:ext cx="8915399" cy="5326144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>
                <a:solidFill>
                  <a:schemeClr val="tx1"/>
                </a:solidFill>
              </a:rPr>
              <a:t>This project uses Python and its popular libraries to perform data analysis and visualization.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Programming Language: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Python</a:t>
            </a:r>
            <a:r>
              <a:rPr lang="en-US" sz="1900" dirty="0">
                <a:solidFill>
                  <a:schemeClr val="tx1"/>
                </a:solidFill>
              </a:rPr>
              <a:t> – Easy to use, powerful for data analysis and visualization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Libraries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Pandas</a:t>
            </a:r>
            <a:r>
              <a:rPr lang="en-US" sz="1900" dirty="0">
                <a:solidFill>
                  <a:schemeClr val="tx1"/>
                </a:solidFill>
              </a:rPr>
              <a:t> – For loading, cleaning, and manipulating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NumPy</a:t>
            </a:r>
            <a:r>
              <a:rPr lang="en-US" sz="1900" dirty="0">
                <a:solidFill>
                  <a:schemeClr val="tx1"/>
                </a:solidFill>
              </a:rPr>
              <a:t> – For basic numerical operations and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Matplotlib</a:t>
            </a:r>
            <a:r>
              <a:rPr lang="en-US" sz="1900" dirty="0">
                <a:solidFill>
                  <a:schemeClr val="tx1"/>
                </a:solidFill>
              </a:rPr>
              <a:t> – For creating basic plots and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Seaborn</a:t>
            </a:r>
            <a:r>
              <a:rPr lang="en-US" sz="1900" dirty="0">
                <a:solidFill>
                  <a:schemeClr val="tx1"/>
                </a:solidFill>
              </a:rPr>
              <a:t> – For making advanced and attractive statistical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Scikit-learn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i="1" dirty="0">
                <a:solidFill>
                  <a:schemeClr val="tx1"/>
                </a:solidFill>
              </a:rPr>
              <a:t>(optional)</a:t>
            </a:r>
            <a:r>
              <a:rPr lang="en-US" sz="1900" dirty="0">
                <a:solidFill>
                  <a:schemeClr val="tx1"/>
                </a:solidFill>
              </a:rPr>
              <a:t> – Can be used in future to apply machine learning models for prediction</a:t>
            </a:r>
          </a:p>
          <a:p>
            <a:r>
              <a:rPr lang="en-US" sz="1900" b="1" dirty="0">
                <a:solidFill>
                  <a:schemeClr val="tx1"/>
                </a:solidFill>
              </a:rPr>
              <a:t>Platform: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tx1"/>
                </a:solidFill>
              </a:rPr>
              <a:t>Jupyter</a:t>
            </a:r>
            <a:r>
              <a:rPr lang="en-US" sz="1900" b="1" dirty="0">
                <a:solidFill>
                  <a:schemeClr val="tx1"/>
                </a:solidFill>
              </a:rPr>
              <a:t> Notebook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900" b="1" dirty="0">
                <a:solidFill>
                  <a:schemeClr val="tx1"/>
                </a:solidFill>
              </a:rPr>
              <a:t>Google </a:t>
            </a:r>
            <a:r>
              <a:rPr lang="en-US" sz="1900" b="1" dirty="0" err="1">
                <a:solidFill>
                  <a:schemeClr val="tx1"/>
                </a:solidFill>
              </a:rPr>
              <a:t>Colab</a:t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1900" dirty="0">
                <a:solidFill>
                  <a:schemeClr val="tx1"/>
                </a:solidFill>
              </a:rPr>
              <a:t>Used to write and run code, view outputs, and create visualizations interactively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0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ECAF-7D03-DC00-B6BD-1114F0A5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56181"/>
            <a:ext cx="8915399" cy="735291"/>
          </a:xfrm>
        </p:spPr>
        <p:txBody>
          <a:bodyPr>
            <a:normAutofit/>
          </a:bodyPr>
          <a:lstStyle/>
          <a:p>
            <a:r>
              <a:rPr lang="en-IN" dirty="0"/>
              <a:t>System Design /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4B457-47CE-C453-3962-01BD114AF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696825"/>
            <a:ext cx="8915399" cy="460499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project follows a step-by-step workflow to analyze crime data effectively and extract meaningful insights:</a:t>
            </a:r>
          </a:p>
          <a:p>
            <a:r>
              <a:rPr lang="en-US" b="1" dirty="0">
                <a:solidFill>
                  <a:schemeClr val="tx1"/>
                </a:solidFill>
              </a:rPr>
              <a:t>Step 1: Data Acquisition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Crime data collected in </a:t>
            </a:r>
            <a:r>
              <a:rPr lang="en-US" b="1" dirty="0">
                <a:solidFill>
                  <a:schemeClr val="tx1"/>
                </a:solidFill>
              </a:rPr>
              <a:t>CSV format</a:t>
            </a:r>
            <a:r>
              <a:rPr lang="en-US" dirty="0">
                <a:solidFill>
                  <a:schemeClr val="tx1"/>
                </a:solidFill>
              </a:rPr>
              <a:t> from trusted sources such as </a:t>
            </a:r>
            <a:r>
              <a:rPr lang="en-US" b="1" dirty="0">
                <a:solidFill>
                  <a:schemeClr val="tx1"/>
                </a:solidFill>
              </a:rPr>
              <a:t>NCRB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Data.gov.in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Contains year-wise and state-wise records of crimes against women</a:t>
            </a:r>
          </a:p>
          <a:p>
            <a:r>
              <a:rPr lang="en-US" b="1" dirty="0">
                <a:solidFill>
                  <a:schemeClr val="tx1"/>
                </a:solidFill>
              </a:rPr>
              <a:t>Step 2: Data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Pandas</a:t>
            </a:r>
            <a:r>
              <a:rPr lang="en-US" dirty="0">
                <a:solidFill>
                  <a:schemeClr val="tx1"/>
                </a:solidFill>
              </a:rPr>
              <a:t> used to clean and structure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Tasks include removing missing values, renaming columns, and formatting data types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201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1DB41-A421-BCB8-6633-4F922192C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697584"/>
            <a:ext cx="8915399" cy="598602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Step 3: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Apply grouping, filtering, and aggregation to explore crime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Compare crime rates across years, states, and categories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Step 4: Data Visualization</a:t>
            </a:r>
          </a:p>
          <a:p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b="1" dirty="0">
                <a:solidFill>
                  <a:schemeClr val="tx1"/>
                </a:solidFill>
              </a:rPr>
              <a:t>Matplotlib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Seaborn</a:t>
            </a:r>
            <a:r>
              <a:rPr lang="en-US" dirty="0">
                <a:solidFill>
                  <a:schemeClr val="tx1"/>
                </a:solidFill>
              </a:rPr>
              <a:t> to create: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Line plots</a:t>
            </a:r>
            <a:r>
              <a:rPr lang="en-US" sz="2000" dirty="0">
                <a:solidFill>
                  <a:schemeClr val="tx1"/>
                </a:solidFill>
              </a:rPr>
              <a:t> – for trend analysis over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Pie charts</a:t>
            </a:r>
            <a:r>
              <a:rPr lang="en-US" sz="2000" dirty="0">
                <a:solidFill>
                  <a:schemeClr val="tx1"/>
                </a:solidFill>
              </a:rPr>
              <a:t> – for category-wise crime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Box plots</a:t>
            </a:r>
            <a:r>
              <a:rPr lang="en-US" sz="2000" dirty="0">
                <a:solidFill>
                  <a:schemeClr val="tx1"/>
                </a:solidFill>
              </a:rPr>
              <a:t> – for identifying variation and outliers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Step 5: Interpretation &amp;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Extract meaningful findings from the visualized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Highlight </a:t>
            </a:r>
            <a:r>
              <a:rPr lang="en-US" b="1" dirty="0">
                <a:solidFill>
                  <a:schemeClr val="tx1"/>
                </a:solidFill>
              </a:rPr>
              <a:t>high-risk regions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crime trends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policy-relevant insights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9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1F77-4CE5-ABF6-A6FD-90D33A36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65608"/>
            <a:ext cx="8915399" cy="688157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73770-1613-9ED9-ADA1-3AFFDB86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253764"/>
            <a:ext cx="8915399" cy="503862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implementation involved structured data processing, analysis, and visualization using Python and its libraries.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Data Loading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Imported the CSV dataset into a </a:t>
            </a:r>
            <a:r>
              <a:rPr lang="en-US" b="1" dirty="0">
                <a:solidFill>
                  <a:schemeClr val="tx1"/>
                </a:solidFill>
              </a:rPr>
              <a:t>Pandas </a:t>
            </a:r>
            <a:r>
              <a:rPr lang="en-US" b="1" dirty="0" err="1">
                <a:solidFill>
                  <a:schemeClr val="tx1"/>
                </a:solidFill>
              </a:rPr>
              <a:t>DataFrame</a:t>
            </a:r>
            <a:r>
              <a:rPr lang="en-US" dirty="0">
                <a:solidFill>
                  <a:schemeClr val="tx1"/>
                </a:solidFill>
              </a:rPr>
              <a:t> for analysis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Executed over </a:t>
            </a:r>
            <a:r>
              <a:rPr lang="en-US" b="1" dirty="0">
                <a:solidFill>
                  <a:schemeClr val="tx1"/>
                </a:solidFill>
              </a:rPr>
              <a:t>20+ queries</a:t>
            </a:r>
            <a:r>
              <a:rPr lang="en-US" dirty="0">
                <a:solidFill>
                  <a:schemeClr val="tx1"/>
                </a:solidFill>
              </a:rPr>
              <a:t>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Clean missing or inconsistent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Filter data by year, state, and crime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Group and aggregate data for meaningful insights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702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8A619-3239-7922-2A55-7F01C95F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593888"/>
            <a:ext cx="8915399" cy="561837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Aggregation Techniques Used</a:t>
            </a:r>
          </a:p>
          <a:p>
            <a:r>
              <a:rPr lang="en-US" dirty="0">
                <a:solidFill>
                  <a:schemeClr val="tx1"/>
                </a:solidFill>
              </a:rPr>
              <a:t>Common statistical functions applied: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min(),max()-</a:t>
            </a:r>
            <a:r>
              <a:rPr lang="en-US" dirty="0">
                <a:solidFill>
                  <a:schemeClr val="tx1"/>
                </a:solidFill>
              </a:rPr>
              <a:t>Identify lowest and highest crime rates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mean(),mode()-</a:t>
            </a:r>
            <a:r>
              <a:rPr lang="en-US" dirty="0">
                <a:solidFill>
                  <a:schemeClr val="tx1"/>
                </a:solidFill>
              </a:rPr>
              <a:t>Find average and most frequent values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var()-Measure data variability</a:t>
            </a:r>
          </a:p>
        </p:txBody>
      </p:sp>
    </p:spTree>
    <p:extLst>
      <p:ext uri="{BB962C8B-B14F-4D97-AF65-F5344CB8AC3E}">
        <p14:creationId xmlns:p14="http://schemas.microsoft.com/office/powerpoint/2010/main" val="1914676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5030C-7FD0-811F-1D63-497101DF6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575034"/>
            <a:ext cx="8915399" cy="575977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Visualization</a:t>
            </a:r>
          </a:p>
          <a:p>
            <a:r>
              <a:rPr lang="en-US" dirty="0">
                <a:solidFill>
                  <a:schemeClr val="tx1"/>
                </a:solidFill>
              </a:rPr>
              <a:t>Created multiple charts to highlight patterns and comparisons: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Pie Chart</a:t>
            </a:r>
            <a:r>
              <a:rPr lang="en-US" dirty="0">
                <a:solidFill>
                  <a:schemeClr val="tx1"/>
                </a:solidFill>
              </a:rPr>
              <a:t> – Shows top 6 states with highest crime cases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33B29-76D2-019E-CD3D-F85261E9A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431" y="2095763"/>
            <a:ext cx="4961160" cy="377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28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598EA-94DF-D6C1-2B64-98F00A11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499621"/>
            <a:ext cx="8915399" cy="616513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Bar Chart – Displays rape cases by state(top 10)year-wise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 Boxplot-</a:t>
            </a:r>
            <a:r>
              <a:rPr lang="en-US" dirty="0">
                <a:solidFill>
                  <a:schemeClr val="tx1"/>
                </a:solidFill>
              </a:rPr>
              <a:t>Visualizes spread and outliers in crimes against women categories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4527C-CEA8-1876-780C-AEBD8AB80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097" y="1006022"/>
            <a:ext cx="3242822" cy="2422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C33D0-8CDF-550A-57FD-80A6794A0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035" y="4091695"/>
            <a:ext cx="2990298" cy="238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A439B-4710-5D6E-CC70-E860895FC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292231"/>
            <a:ext cx="8915399" cy="642908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Heatmap</a:t>
            </a:r>
            <a:r>
              <a:rPr lang="en-US" dirty="0">
                <a:solidFill>
                  <a:schemeClr val="tx1"/>
                </a:solidFill>
              </a:rPr>
              <a:t> – Correlation between different crime types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Line Chart</a:t>
            </a:r>
            <a:r>
              <a:rPr lang="en-US" dirty="0">
                <a:solidFill>
                  <a:schemeClr val="tx1"/>
                </a:solidFill>
              </a:rPr>
              <a:t> – Trend of total crimes over the years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E2278-6A6E-7A3E-BEEB-78988ABEC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79" y="669303"/>
            <a:ext cx="3059042" cy="2618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D9D0EC-63E9-1E88-93B6-8829BD827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79" y="3664670"/>
            <a:ext cx="3680434" cy="288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94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B699-FF1B-93E3-91DD-7EE2DC2A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65608"/>
            <a:ext cx="8915399" cy="860401"/>
          </a:xfrm>
        </p:spPr>
        <p:txBody>
          <a:bodyPr>
            <a:normAutofit/>
          </a:bodyPr>
          <a:lstStyle/>
          <a:p>
            <a:r>
              <a:rPr lang="en-IN" dirty="0"/>
              <a:t>Results /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792F6-3B8F-64F9-A98F-E5A85E103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857080"/>
            <a:ext cx="8915399" cy="443531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analysis provided key insights into crimes against women across Indian states: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States like Uttar Pradesh and Maharashtra</a:t>
            </a:r>
            <a:r>
              <a:rPr lang="en-US" dirty="0">
                <a:solidFill>
                  <a:schemeClr val="tx1"/>
                </a:solidFill>
              </a:rPr>
              <a:t> reported the </a:t>
            </a:r>
            <a:r>
              <a:rPr lang="en-US" b="1" dirty="0">
                <a:solidFill>
                  <a:schemeClr val="tx1"/>
                </a:solidFill>
              </a:rPr>
              <a:t>highest total number of cases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Rape and Domestic Violence</a:t>
            </a:r>
            <a:r>
              <a:rPr lang="en-US" dirty="0">
                <a:solidFill>
                  <a:schemeClr val="tx1"/>
                </a:solidFill>
              </a:rPr>
              <a:t> emerged as the </a:t>
            </a:r>
            <a:r>
              <a:rPr lang="en-US" b="1" dirty="0">
                <a:solidFill>
                  <a:schemeClr val="tx1"/>
                </a:solidFill>
              </a:rPr>
              <a:t>most frequently reported crime categories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rising trend in crimes</a:t>
            </a:r>
            <a:r>
              <a:rPr lang="en-US" dirty="0">
                <a:solidFill>
                  <a:schemeClr val="tx1"/>
                </a:solidFill>
              </a:rPr>
              <a:t> was observed in several states over the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Strong correlation</a:t>
            </a:r>
            <a:r>
              <a:rPr lang="en-US" dirty="0">
                <a:solidFill>
                  <a:schemeClr val="tx1"/>
                </a:solidFill>
              </a:rPr>
              <a:t> identified between </a:t>
            </a:r>
            <a:r>
              <a:rPr lang="en-US" b="1" dirty="0">
                <a:solidFill>
                  <a:schemeClr val="tx1"/>
                </a:solidFill>
              </a:rPr>
              <a:t>Assault on Women (</a:t>
            </a:r>
            <a:r>
              <a:rPr lang="en-US" b="1" dirty="0" err="1">
                <a:solidFill>
                  <a:schemeClr val="tx1"/>
                </a:solidFill>
              </a:rPr>
              <a:t>AoW</a:t>
            </a:r>
            <a:r>
              <a:rPr lang="en-US" b="1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Domestic Violence (DV)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pie chart visualization</a:t>
            </a:r>
            <a:r>
              <a:rPr lang="en-US" dirty="0">
                <a:solidFill>
                  <a:schemeClr val="tx1"/>
                </a:solidFill>
              </a:rPr>
              <a:t> clearly highlights the </a:t>
            </a:r>
            <a:r>
              <a:rPr lang="en-US" b="1" dirty="0">
                <a:solidFill>
                  <a:schemeClr val="tx1"/>
                </a:solidFill>
              </a:rPr>
              <a:t>top crime-contributing states</a:t>
            </a:r>
            <a:r>
              <a:rPr lang="en-US" dirty="0">
                <a:solidFill>
                  <a:schemeClr val="tx1"/>
                </a:solidFill>
              </a:rPr>
              <a:t>, aiding in regional comparison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69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8234-C31C-E9B5-FC66-5BFC8950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84463"/>
            <a:ext cx="8915399" cy="860400"/>
          </a:xfrm>
        </p:spPr>
        <p:txBody>
          <a:bodyPr>
            <a:normAutofit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9A72A-3837-933A-1916-1E01E80E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444863"/>
            <a:ext cx="8915399" cy="521988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Conclusion: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Python libraries</a:t>
            </a:r>
            <a:r>
              <a:rPr lang="en-US" dirty="0">
                <a:solidFill>
                  <a:schemeClr val="tx1"/>
                </a:solidFill>
              </a:rPr>
              <a:t> like Pandas, Matplotlib, and Seaborn enabled effective analysis of crime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Visualizations</a:t>
            </a:r>
            <a:r>
              <a:rPr lang="en-US" dirty="0">
                <a:solidFill>
                  <a:schemeClr val="tx1"/>
                </a:solidFill>
              </a:rPr>
              <a:t> simplified the understanding of trends and patterns across states and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insights can support </a:t>
            </a:r>
            <a:r>
              <a:rPr lang="en-US" b="1" dirty="0">
                <a:solidFill>
                  <a:schemeClr val="tx1"/>
                </a:solidFill>
              </a:rPr>
              <a:t>public awareness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crime prevention strategies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evidence-based policymaking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Future Scope: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Integrate demographic and socio-economic data</a:t>
            </a:r>
            <a:r>
              <a:rPr lang="en-IN" dirty="0">
                <a:solidFill>
                  <a:schemeClr val="tx1"/>
                </a:solidFill>
              </a:rPr>
              <a:t> (e.g., literacy rate, income levels) to enhance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Implement predictive models</a:t>
            </a:r>
            <a:r>
              <a:rPr lang="en-IN" dirty="0">
                <a:solidFill>
                  <a:schemeClr val="tx1"/>
                </a:solidFill>
              </a:rPr>
              <a:t> using </a:t>
            </a:r>
            <a:r>
              <a:rPr lang="en-IN" b="1" dirty="0">
                <a:solidFill>
                  <a:schemeClr val="tx1"/>
                </a:solidFill>
              </a:rPr>
              <a:t>Scikit-learn</a:t>
            </a:r>
            <a:r>
              <a:rPr lang="en-IN" dirty="0">
                <a:solidFill>
                  <a:schemeClr val="tx1"/>
                </a:solidFill>
              </a:rPr>
              <a:t> to forecast future crime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Develop an interactive dashboard</a:t>
            </a:r>
            <a:r>
              <a:rPr lang="en-IN" dirty="0">
                <a:solidFill>
                  <a:schemeClr val="tx1"/>
                </a:solidFill>
              </a:rPr>
              <a:t> using </a:t>
            </a:r>
            <a:r>
              <a:rPr lang="en-IN" b="1" dirty="0">
                <a:solidFill>
                  <a:schemeClr val="tx1"/>
                </a:solidFill>
              </a:rPr>
              <a:t>Power BI or Tableau</a:t>
            </a:r>
            <a:r>
              <a:rPr lang="en-IN" dirty="0">
                <a:solidFill>
                  <a:schemeClr val="tx1"/>
                </a:solidFill>
              </a:rPr>
              <a:t> for real-time insights and stakeholder 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349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86B7-49A3-4D91-264C-97231B01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03314"/>
            <a:ext cx="8915399" cy="79185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F00C1-241F-D1E3-45ED-07801E3F9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395167"/>
            <a:ext cx="8915399" cy="561837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NCRB: Official crime data source</a:t>
            </a:r>
          </a:p>
          <a:p>
            <a:r>
              <a:rPr lang="en-IN" sz="1600" dirty="0">
                <a:solidFill>
                  <a:schemeClr val="tx1"/>
                </a:solidFill>
                <a:hlinkClick r:id="rId2"/>
              </a:rPr>
              <a:t>     https://ncrb.gov.inData.gov.in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Government open data portal used for acquiring datasets</a:t>
            </a:r>
          </a:p>
          <a:p>
            <a:r>
              <a:rPr lang="en-IN" sz="1600" dirty="0">
                <a:solidFill>
                  <a:schemeClr val="tx1"/>
                </a:solidFill>
                <a:hlinkClick r:id="rId3"/>
              </a:rPr>
              <a:t>     h</a:t>
            </a:r>
            <a:r>
              <a:rPr lang="en-IN" sz="1600" dirty="0">
                <a:solidFill>
                  <a:schemeClr val="tx1"/>
                </a:solidFill>
                <a:hlinkClick r:id="rId3"/>
              </a:rPr>
              <a:t>ttps://data.gov.in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Analytics Vidhya: Guidance on structuring Python data analysis projects</a:t>
            </a:r>
          </a:p>
          <a:p>
            <a:r>
              <a:rPr lang="en-IN" sz="1600" dirty="0">
                <a:solidFill>
                  <a:schemeClr val="tx1"/>
                </a:solidFill>
                <a:hlinkClick r:id="rId4"/>
              </a:rPr>
              <a:t>     https://www.analyticsvidhya.com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Pandas Documentation: Reference for data manipulation and analysis</a:t>
            </a:r>
          </a:p>
          <a:p>
            <a:r>
              <a:rPr lang="en-IN" sz="1600" dirty="0">
                <a:solidFill>
                  <a:schemeClr val="tx1"/>
                </a:solidFill>
                <a:hlinkClick r:id="rId5"/>
              </a:rPr>
              <a:t>     https://pandas.pydata.org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Seaborn Documentation: For creating statistical data visualizations</a:t>
            </a:r>
          </a:p>
          <a:p>
            <a:r>
              <a:rPr lang="en-IN" sz="1600" dirty="0">
                <a:solidFill>
                  <a:schemeClr val="tx1"/>
                </a:solidFill>
                <a:hlinkClick r:id="rId6"/>
              </a:rPr>
              <a:t>     https://seaborn.pydata.org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Python Official Documentation: Language reference and standard library usage</a:t>
            </a:r>
          </a:p>
          <a:p>
            <a:r>
              <a:rPr lang="en-IN" sz="1600" dirty="0">
                <a:solidFill>
                  <a:schemeClr val="tx1"/>
                </a:solidFill>
                <a:hlinkClick r:id="rId7"/>
              </a:rPr>
              <a:t>     https://docs.python.org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GitHub – AP Skill Development Internship Repository: Project-related code and analysis resources</a:t>
            </a:r>
          </a:p>
        </p:txBody>
      </p:sp>
    </p:spTree>
    <p:extLst>
      <p:ext uri="{BB962C8B-B14F-4D97-AF65-F5344CB8AC3E}">
        <p14:creationId xmlns:p14="http://schemas.microsoft.com/office/powerpoint/2010/main" val="2313033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E773-CCF7-2173-1017-64BEC8E59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045" y="278855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91381427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119</TotalTime>
  <Words>1483</Words>
  <Application>Microsoft Office PowerPoint</Application>
  <PresentationFormat>Widescreen</PresentationFormat>
  <Paragraphs>164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Wingdings</vt:lpstr>
      <vt:lpstr>Wingdings 3</vt:lpstr>
      <vt:lpstr>Wisp</vt:lpstr>
      <vt:lpstr>Summer Internship Project</vt:lpstr>
      <vt:lpstr>Contents</vt:lpstr>
      <vt:lpstr>Introduction </vt:lpstr>
      <vt:lpstr>Key steps in Data Analysis with Python:</vt:lpstr>
      <vt:lpstr>Important Libraries used in Python:</vt:lpstr>
      <vt:lpstr>Project Abstract:</vt:lpstr>
      <vt:lpstr>Introduction to Project</vt:lpstr>
      <vt:lpstr>PowerPoint Presentation</vt:lpstr>
      <vt:lpstr>PowerPoint Presentation</vt:lpstr>
      <vt:lpstr>Technology Stack Used</vt:lpstr>
      <vt:lpstr>System Design / Architecture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  <vt:lpstr>Results / Output</vt:lpstr>
      <vt:lpstr>Conclusion &amp; Future Scope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sowmya srivalli allam</dc:creator>
  <cp:lastModifiedBy>sowmya srivalli allam</cp:lastModifiedBy>
  <cp:revision>1</cp:revision>
  <dcterms:created xsi:type="dcterms:W3CDTF">2025-07-15T10:44:53Z</dcterms:created>
  <dcterms:modified xsi:type="dcterms:W3CDTF">2025-07-15T12:44:47Z</dcterms:modified>
</cp:coreProperties>
</file>